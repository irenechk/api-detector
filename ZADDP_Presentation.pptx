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572000"/>
            <a:ext cx="2286000" cy="2286000"/>
          </a:xfrm>
          <a:prstGeom prst="ellipse">
            <a:avLst/>
          </a:prstGeom>
          <a:solidFill>
            <a:srgbClr val="00D4A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5669280"/>
            <a:ext cx="2286000" cy="2286000"/>
          </a:xfrm>
          <a:prstGeom prst="ellipse">
            <a:avLst/>
          </a:prstGeom>
          <a:solidFill>
            <a:srgbClr val="6C5CE7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6766560"/>
            <a:ext cx="2286000" cy="2286000"/>
          </a:xfrm>
          <a:prstGeom prst="ellipse">
            <a:avLst/>
          </a:prstGeom>
          <a:solidFill>
            <a:srgbClr val="6C5CE7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Inter"/>
              </a:defRPr>
            </a:pPr>
            <a:r>
              <a:t>ZADDP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Inter"/>
              </a:defRPr>
            </a:pPr>
            <a:r>
              <a:t>Zombie API Discovery &amp; Defence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Inter"/>
              </a:defRPr>
            </a:pPr>
            <a:r>
              <a:t>A Full-Stack Cybersecurity Dashboard for Financial Institutions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Inter"/>
              </a:defRPr>
            </a:pPr>
            <a:r>
              <a:t>Discover · Classify · Secure · Decommission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Hackathon / Demo  •  75 Synthetic Banking API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Financial institutions accumulate hundreds of forgotten, unmanaged APIs — an invisible attack surface.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The API Security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🔴  Zombie APIs — Deprecated, orphaned endpoints still running in production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45+ days without traffic, no owner, still reachable — prime breach targets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🟠  Shadow APIs — Undocumented, unregistered endpoints discovered through monitoring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No governance, no security review, unknown data exposure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🟡  Regulatory Pressure — PCI-DSS, GDPR, PSD2, SOX, ISO 27001 compliance requirements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Heavy fines for data breaches from unmanaged APIs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🔵  Operational Risk — Resource waste, dependency nightmares, audit failures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Security teams lack tooling to inventory, assess, and decommission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Source: Gartner predicts API abuses will become the most-frequent attack vector by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ZADDP — A command-center experience for API security posture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What ZADDP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🔍  Discover  —  Actively scan web apps for hidden API endpoints, identify shadow APIs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3 detection patterns: HTML links, script analysis, common path matching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🏷️  Classify  —  Auto-categorize by risk tier, data sensitivity, lifecycle status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ML-powered classification (TF-IDF + LogisticRegression / GradientBoosting)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🛡️  Secure  —  Analyze endpoints for 11 vulnerability types with exploit examples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Copy-paste curl commands to reproduce each finding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🗑️  Decommission  —  Structured quarantine -&gt; approve -&gt; delete workflow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Kanban board + safety catch for traffic spikes on quarantined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Features I — Command Center &amp; 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54864" cy="2377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Real-time security dashboard with 6 stat cards, risk donut chart, 30-day trend area chart, critical alerts, decommission progress, and top owners table. Auto-refreshes every 30s.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54864" cy="2377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API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Advanced data table with server-side pagination, 6 filter dimensions, global search, bulk selection, row actions (quarantine/rescue/decommission), animated SVG risk gauges.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54864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API Detail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5-tab interface: Overview (risk gauge + metadata), Security (CVSS findings), Traffic (24h charts), Dependencies (graph), Audit (trail). Context-aware action bar.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Features II — Scanner, Graveyard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54864" cy="2377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API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URL-based reconnaissance tool. Discovers endpoints via 3 detection patterns + analyzes for 11 vulnerability types with severity ratings and curl exploit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54864" cy="2377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Zombie Graveyard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4-stage Kanban workflow (Detected -&gt; Quarantined -&gt; Approved -&gt; Decommissioned). Safety catch alerts, auto-decommission countdowns, GitHub PR tracking, live detection feed.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54864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Security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Security posture summary: 5 stat cards, findings-by-severity donut, compliance coverage (PCI-DSS/GDPR/PSD2/SOX/ISO 27001), top 10 risk APIs sorted by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Features III — Reports &amp;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54864" cy="2377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Reports &amp; Scoreboard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Monthly zombie scoreboard with executive summary, 6-month risk/security trends, API census, top business units. Date range selector + client-side PDF export + regulatory templates.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54864" cy="2377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Settings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7-tab configuration: Discovery, Classification, Risk Scoring (adjustable weight sliders), Notifications (Email/Slack/PagerDuty/Webhook), Integrations, User Management (RBAC), Audit Log.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23774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54864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Dual auth: Azure AD (Microsoft Entra ID) OAuth 2.0 via NextAuth.js + Demo credentials (admin/admin). Session-based route protection with loading states &amp; redirects.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4-service Docker Compose stack with NGINX reverse proxy.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46320" y="1463040"/>
            <a:ext cx="2377440" cy="10972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0F23"/>
                </a:solidFill>
                <a:latin typeface="Inter"/>
              </a:defRPr>
            </a:pPr>
            <a:r>
              <a:t>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0F23"/>
                </a:solidFill>
                <a:latin typeface="Inter"/>
              </a:defRPr>
            </a:pPr>
            <a:r>
              <a:t>Port 80 · Reverse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2560320" cy="10972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Next.js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Port 3000 · React SPA + SSR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017520"/>
            <a:ext cx="256032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Port 8000 · Python 3.11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572000"/>
            <a:ext cx="2560320" cy="10972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PostgreSQL + TimescaleDB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Port 5433 · Time-series hypertable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Inter"/>
              </a:defRPr>
            </a:pPr>
            <a:r>
              <a:t>ROUTES / -&gt;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Inter"/>
              </a:defRPr>
            </a:pPr>
            <a:r>
              <a:t>/api -&gt;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Frontend: Next.js 14 · TypeScript · Tailwind CSS · TanStack Query · Zustand · Recharts · Framer Motion · NextAuth.js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Backend: FastAPI · SQLAlchemy 2.0 async · Pydantic v2 · asyncpg · httpx · scikit-learn (TF-IDF + GradientBoosting) · Uvicorn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Modern, production-grade technologies across the full stack.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4572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Next.js 14 (App Router)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TypeScript 5.3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Tailwind CSS 3.4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TanStack React Query v5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Zustand v4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Recharts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Framer Motion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NextAuth.js v4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80160"/>
            <a:ext cx="3474720" cy="4572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Python 3.11 / FastAPI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SQLAlchemy 2.0 (async)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Pydantic v2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asyncpg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httpx (scanner)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scikit-learn (ML)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Uvicorn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280160"/>
            <a:ext cx="34747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Database &amp;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PostgreSQL 15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TimescaleDB (hypertable)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Redis 7 (cache)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Docker Compose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NGINX (reverse proxy)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Vercel (deploy-ready)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Railway / Neon (backing stores)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Database Schema — 7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📊  APIs  —  Core inventory (endpoint, method, environment, status, risk_score, metadata JSONB, tags)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75 synthetic banking API records across 20 business domains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🔒  Security Findings  —  Vulnerabilities with CVSS scores, evidence, remediation steps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30 findings across 12 security dimensions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📈  Traffic Metrics  —  TimescaleDB hypertable for time-series request data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2,250 records (30 days x 75 APIs) with p95/p99 latency, error counts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🔄  Decommission Workflows  —  Zombie lifecycle (detected -&gt; quarantined -&gt; approved -&gt; decommissioned)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8 workflows with PR tracking, safety catch, auto-decommission dates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👥  Users  —  RBAC with MFA tracking, team/department assignments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🔗  API Dependencies  —  Inter-API dependency graph (calls, database, queue, event)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📋  Audit Trail  —  Immutable action log with before/after JSONB state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ML Classification &amp; Security Scanner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🧠  Dual ML Pipeline: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Original: TF-IDF vectorization + LogisticRegression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Enhanced: Multi-output GradientBoosting, path structure, keyword density features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Status Predictor: GradientBoosting for lifecycle status from traffic/metadata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Rule-based fallbacks when trained models unavailable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🔎  Scanner Detection Patterns: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HTML Links — extracts href attributes matching /api/, /v\d/, /graphql, /swagger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Script Analysis — finds hardcoded API URLs inside &lt;script&gt; tags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Common Path Matching — checks against 25+ known endpoint paths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⚠️  11 Vulnerability Types: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🔴 Critical: Exposed Admin Interface, Sensitive Data Exposure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🟠 High: IDOR, Auth Bypass, Mass Assignment, GraphQL Introspection, File Abuse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🟡 Medium: Missing Rate Limiting, API Doc Leakage, CORS Misconfiguration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🔵 Low: Information Disclosure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-&gt; Each finding includes CVSS-style rating, attack description, and curl exploit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Demo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75 synthetic banking API records for realistic demonstrations.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Demo Data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00400" cy="7772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Inter"/>
              </a:defRPr>
            </a:pPr>
            <a:r>
              <a:t>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nter"/>
              </a:defRPr>
            </a:pPr>
            <a:r>
              <a:t>Recent traffic, documented, owned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200400" cy="7772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Inter"/>
              </a:defRPr>
            </a:pPr>
            <a:r>
              <a:t>Deprecated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nter"/>
              </a:defRPr>
            </a:pPr>
            <a:r>
              <a:t>Sunset status, residual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200400" cy="7772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Inter"/>
              </a:defRPr>
            </a:pPr>
            <a:r>
              <a:t>Orphaned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nter"/>
              </a:defRPr>
            </a:pPr>
            <a:r>
              <a:t>No owner, 120+ days stale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337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3200400" cy="7772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33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Inter"/>
              </a:defRPr>
            </a:pPr>
            <a:r>
              <a:t>Shadow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nter"/>
              </a:defRPr>
            </a:pPr>
            <a:r>
              <a:t>No documentation, observed traffic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297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3200400" cy="77724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93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Inter"/>
              </a:defRPr>
            </a:pPr>
            <a:r>
              <a:t>Zombie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nter"/>
              </a:defRPr>
            </a:pPr>
            <a:r>
              <a:t>45+ days no traffic, still reachable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257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Data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9202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Environments: Production 60% | Staging 20% | Dev 15% | UAT 5%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Data Sensitivity: Public 10% | Internal 40% | Confidential 35% | Restricted 15%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Protocols: HTTPS 85% | HTTP / gRPC / GraphQL 15%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TLS: 1.3 (60%) | 1.2 (30%) | 1.1 (7%) | 1.0 (3%)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• API Categories: Account Mgmt, Payments, Card Services, Loans,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   User Mgmt, Auth, Notifications, Reporting, Compliance,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   Internal Tools, Analytics, Onboarding, Currency Exchange,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   Investments, Insurance, Mortgage, Support, Fraud Detection, Audit, Legacy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Run the full stack in one command.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Quick Start &amp;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AA"/>
                </a:solidFill>
                <a:latin typeface="Inter"/>
              </a:defRPr>
            </a:pPr>
            <a:r>
              <a:t># One-command full stack deployment</a:t>
            </a:r>
            <a:br/>
            <a:r>
              <a:t>docker compose up --build</a:t>
            </a:r>
            <a:br/>
            <a:br/>
            <a:r>
              <a:t># Access at http://localhost (NGINX on port 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Login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  1.  Sign in with Azure AD — OAuth 2.0 via Microsoft Entra ID (multi-tenant)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  2.  Demo Login — Quick access with admin /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Development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  • Frontend:  cd Zombiee &amp;&amp; npm run dev    (http://localhost:3000)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  • Backend:   cd Zombiee/backend &amp;&amp; uvicorn app.main:app --reload    (http://localhost:8000)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  • DB only:   docker compose up db    (PostgreSQL on port 5433)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  <a:latin typeface="Inter"/>
              </a:defRPr>
            </a:pPr>
            <a:r>
              <a:t>  • Seed data: cd Zombiee/backend &amp;&amp; python -m app.seed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914400"/>
            <a:ext cx="2743200" cy="2743200"/>
          </a:xfrm>
          <a:prstGeom prst="ellipse">
            <a:avLst/>
          </a:prstGeom>
          <a:solidFill>
            <a:srgbClr val="00D4AA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2286000"/>
            <a:ext cx="2743200" cy="2743200"/>
          </a:xfrm>
          <a:prstGeom prst="ellipse">
            <a:avLst/>
          </a:prstGeom>
          <a:solidFill>
            <a:srgbClr val="6C5CE7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3657600"/>
            <a:ext cx="2743200" cy="2743200"/>
          </a:xfrm>
          <a:prstGeom prst="ellipse">
            <a:avLst/>
          </a:prstGeom>
          <a:solidFill>
            <a:srgbClr val="F59E0B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Inter"/>
              </a:defRPr>
            </a:pPr>
            <a:r>
              <a:t>Zombie API Discovery &amp; Defence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Discover zombie APIs. Eliminate shadow risk. Secure your financial infrastructure.</a:t>
            </a:r>
            <a:br/>
            <a:br/>
            <a:r>
              <a:t>Built with for hackathon/demo purposes.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Production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Enterprise-grade architecture for a top-tier bank — multi-source discovery, ML orchestration, and safe decommissioning.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Platform Architecture — 4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9728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0515600" cy="1051560"/>
          </a:xfrm>
          <a:prstGeom prst="rect">
            <a:avLst/>
          </a:prstGeom>
          <a:solidFill>
            <a:srgbClr val="0F2A1F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24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Inter"/>
              </a:defRPr>
            </a:pPr>
            <a:r>
              <a:t>DISCOVERY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435608"/>
            <a:ext cx="1371600" cy="548640"/>
          </a:xfrm>
          <a:prstGeom prst="roundRect">
            <a:avLst/>
          </a:prstGeom>
          <a:solidFill>
            <a:srgbClr val="153A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Inter"/>
              </a:defRPr>
            </a:pPr>
            <a:r>
              <a:t>API GW Plugins (Kong/Apigee)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35608"/>
            <a:ext cx="1371600" cy="548640"/>
          </a:xfrm>
          <a:prstGeom prst="roundRect">
            <a:avLst/>
          </a:prstGeom>
          <a:solidFill>
            <a:srgbClr val="153A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Inter"/>
              </a:defRPr>
            </a:pPr>
            <a:r>
              <a:t>Network Packet Capture (Zeek)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35608"/>
            <a:ext cx="1371600" cy="548640"/>
          </a:xfrm>
          <a:prstGeom prst="roundRect">
            <a:avLst/>
          </a:prstGeom>
          <a:solidFill>
            <a:srgbClr val="153A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Inter"/>
              </a:defRPr>
            </a:pPr>
            <a:r>
              <a:t>Service Mesh (Istio/Linkerd)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435608"/>
            <a:ext cx="1371600" cy="548640"/>
          </a:xfrm>
          <a:prstGeom prst="roundRect">
            <a:avLst/>
          </a:prstGeom>
          <a:solidFill>
            <a:srgbClr val="153A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Inter"/>
              </a:defRPr>
            </a:pPr>
            <a:r>
              <a:t>Code Repo Scanners (GitHub/GitLab)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435608"/>
            <a:ext cx="1371600" cy="548640"/>
          </a:xfrm>
          <a:prstGeom prst="roundRect">
            <a:avLst/>
          </a:prstGeom>
          <a:solidFill>
            <a:srgbClr val="153A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Inter"/>
              </a:defRPr>
            </a:pPr>
            <a:r>
              <a:t>Cloud Provider API Inventories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435608"/>
            <a:ext cx="1371600" cy="548640"/>
          </a:xfrm>
          <a:prstGeom prst="roundRect">
            <a:avLst/>
          </a:prstGeom>
          <a:solidFill>
            <a:srgbClr val="153A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Inter"/>
              </a:defRPr>
            </a:pPr>
            <a:r>
              <a:t>DNS / Load Balancer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1031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solidFill>
            <a:srgbClr val="1A1A3E"/>
          </a:solidFill>
          <a:ln w="63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578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E7"/>
                </a:solidFill>
                <a:latin typeface="Inter"/>
              </a:defRPr>
            </a:pPr>
            <a:r>
              <a:t>EVENT BUS  —  Apache Kafka  (100k+ events/sec, exactly-once semantics, 90-day retention)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578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Inter"/>
              </a:defRPr>
            </a:pPr>
            <a:r>
              <a:t>EVENT BUS  —  Apache Kafka  (100k+ events/sec, exactly-once semantics, 90-day retention)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017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383280"/>
            <a:ext cx="10515600" cy="1051560"/>
          </a:xfrm>
          <a:prstGeom prst="rect">
            <a:avLst/>
          </a:prstGeom>
          <a:solidFill>
            <a:srgbClr val="1A0F2A"/>
          </a:solidFill>
          <a:ln w="63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5CE7"/>
                </a:solidFill>
                <a:latin typeface="Inter"/>
              </a:defRPr>
            </a:pPr>
            <a:r>
              <a:t>PROCESSING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3730752"/>
            <a:ext cx="2011680" cy="594360"/>
          </a:xfrm>
          <a:prstGeom prst="roundRect">
            <a:avLst/>
          </a:prstGeom>
          <a:solidFill>
            <a:srgbClr val="22153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767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Classifier</a:t>
            </a:r>
            <a:br/>
            <a:r>
              <a:t>Service</a:t>
            </a:r>
            <a:br/>
            <a:r>
              <a:t>(ML Ensemble)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3730752"/>
            <a:ext cx="2011680" cy="594360"/>
          </a:xfrm>
          <a:prstGeom prst="roundRect">
            <a:avLst/>
          </a:prstGeom>
          <a:solidFill>
            <a:srgbClr val="22153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767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Security</a:t>
            </a:r>
            <a:br/>
            <a:r>
              <a:t>Analyzer</a:t>
            </a:r>
            <a:br/>
            <a:r>
              <a:t>(SAST/DAST)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730752"/>
            <a:ext cx="2011680" cy="594360"/>
          </a:xfrm>
          <a:prstGeom prst="roundRect">
            <a:avLst/>
          </a:prstGeom>
          <a:solidFill>
            <a:srgbClr val="22153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767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Dependency</a:t>
            </a:r>
            <a:br/>
            <a:r>
              <a:t>Graph Builder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3730752"/>
            <a:ext cx="2011680" cy="594360"/>
          </a:xfrm>
          <a:prstGeom prst="roundRect">
            <a:avLst/>
          </a:prstGeom>
          <a:solidFill>
            <a:srgbClr val="22153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3767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Risk</a:t>
            </a:r>
            <a:br/>
            <a:r>
              <a:t>Scoring</a:t>
            </a:r>
            <a:br/>
            <a:r>
              <a:t>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4348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solidFill>
            <a:srgbClr val="2A1A0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Inter"/>
              </a:defRPr>
            </a:pPr>
            <a:r>
              <a:t>ORCHESTRATION LAYER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5148072"/>
            <a:ext cx="2011680" cy="594360"/>
          </a:xfrm>
          <a:prstGeom prst="roundRect">
            <a:avLst/>
          </a:prstGeom>
          <a:solidFill>
            <a:srgbClr val="3A251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5184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Workflow Engine</a:t>
            </a:r>
            <a:br/>
            <a:r>
              <a:t>(Temporal.io)</a:t>
            </a:r>
            <a:br/>
            <a:r>
              <a:t>Durable Execution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5148072"/>
            <a:ext cx="2011680" cy="594360"/>
          </a:xfrm>
          <a:prstGeom prst="roundRect">
            <a:avLst/>
          </a:prstGeom>
          <a:solidFill>
            <a:srgbClr val="3A251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5184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Approval Engine</a:t>
            </a:r>
            <a:br/>
            <a:r>
              <a:t>(ITSM Integration)</a:t>
            </a:r>
            <a:br/>
            <a:r>
              <a:t>ServiceNow/PagerDuty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5148072"/>
            <a:ext cx="2011680" cy="594360"/>
          </a:xfrm>
          <a:prstGeom prst="roundRect">
            <a:avLst/>
          </a:prstGeom>
          <a:solidFill>
            <a:srgbClr val="3A251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5184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Decommission</a:t>
            </a:r>
            <a:br/>
            <a:r>
              <a:t>Engine</a:t>
            </a:r>
            <a:br/>
            <a:r>
              <a:t>Grace Period + Rollback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5148072"/>
            <a:ext cx="2011680" cy="594360"/>
          </a:xfrm>
          <a:prstGeom prst="roundRect">
            <a:avLst/>
          </a:prstGeom>
          <a:solidFill>
            <a:srgbClr val="3A251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5184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Inter"/>
              </a:defRPr>
            </a:pPr>
            <a:r>
              <a:t>CMDB</a:t>
            </a:r>
            <a:br/>
            <a:r>
              <a:t>Sync</a:t>
            </a:r>
            <a:br/>
            <a:r>
              <a:t>(Discovery/ServiceNow)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Discovery Layer — Every Source, Continuously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🔌  API Gateway Integration (highest ROI — 80% of APIs pass through gateways)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Kong/Apigee plugins emitting events on route registration, deprecation, traffic patterns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Sidecar agent on each gateway streaming metadata to Kafka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🌐  Network-Level Discovery (catches shadow APIs bypassing gateways)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Zeek/Arkime sensors at network segments monitoring API traffic patterns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TLS fingerprinting for services not routing through the gateway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VPC Flow Log analysis from AWS, Azure, GCP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📦  Code Repository Scanning (catches APIs before they hit production)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Git hooks on PR merge — scan for route defs, OpenAPI specs, middleware config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Scheduled scans of all repos for @route, @RequestMapping patterns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Flag APIs defined in code but absent from gateway registry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🔗  Service Mesh Telemetry (every service-to-service call graph)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Istio/Linkerd telemetry for internal APIs external scanners never see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🔄  CI/CD Pipeline Hooks — register every deployed API at deploy time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If an API stops being deployed for 90 days → flag as zombie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Goal: No API exists in the bank without the platform knowing about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Processing Layer — ML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🧠  Classifier Service — Ensemble of models, not a single classifier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XGBoost + LightGBM + Rule-based fallback (with confidence scoring)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Features: traffic patterns, metadata age, code activity, owner status, dependencies, vulns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Confidence threshold: &lt; 0.85 → human review (prevents false-positive erosion of trust)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Weekly retraining on ground-truth labels from decommission outcomes &amp; security audits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🔬  Security Analyzer — multi-source vulnerability assessment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Integration with existing SAST/DAST tools (Checkmarx, Veracode, Burp Suite)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Passive analysis from traffic logs: no auth → critical; no encryption → critical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PII in payload detection via content inspection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Active scanning during maintenance windows with safe payloads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🕸️  Dependency Graph Builder — know what breaks before you delete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Map every API's consumers and producers from service mesh telemetry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Trace through event queues, message brokers, database connections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• Visual impact analysis: "Who calls this? What breaks?"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📊  Risk Scoring Engine — weighted factors dynamically configurable per business unit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Decommission Workflow — Bank-Grade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9728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508760" cy="22860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72" y="1188720"/>
            <a:ext cx="1453896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23"/>
                </a:solidFill>
                <a:latin typeface="Inter"/>
              </a:defRPr>
            </a:pPr>
            <a:r>
              <a:t>01 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Inter"/>
              </a:defRPr>
            </a:pPr>
            <a:r>
              <a:t>0 traffic for</a:t>
            </a:r>
            <a:br/>
            <a:r>
              <a:t>60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188720"/>
            <a:ext cx="1508760" cy="22860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21992" y="1188720"/>
            <a:ext cx="1453896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23"/>
                </a:solidFill>
                <a:latin typeface="Inter"/>
              </a:defRPr>
            </a:pPr>
            <a:r>
              <a:t>02 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82880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Inter"/>
              </a:defRPr>
            </a:pPr>
            <a:r>
              <a:t>Dependency graph</a:t>
            </a:r>
            <a:br/>
            <a:r>
              <a:t>→ notify consumers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188720"/>
            <a:ext cx="1508760" cy="22860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67912" y="1188720"/>
            <a:ext cx="1453896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23"/>
                </a:solidFill>
                <a:latin typeface="Inter"/>
              </a:defRPr>
            </a:pPr>
            <a:r>
              <a:t>03  GRACE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82880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Inter"/>
              </a:defRPr>
            </a:pPr>
            <a:r>
              <a:t>30-day countdown</a:t>
            </a:r>
            <a:br/>
            <a:r>
              <a:t>traffic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188720"/>
            <a:ext cx="1508760" cy="22860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13832" y="1188720"/>
            <a:ext cx="1453896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23"/>
                </a:solidFill>
                <a:latin typeface="Inter"/>
              </a:defRPr>
            </a:pPr>
            <a:r>
              <a:t>04  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2880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Inter"/>
              </a:defRPr>
            </a:pPr>
            <a:r>
              <a:t>Multi-tier:</a:t>
            </a:r>
            <a:br/>
            <a:r>
              <a:t>Owner → Security →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1188720"/>
            <a:ext cx="1508760" cy="22860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59752" y="1188720"/>
            <a:ext cx="1453896" cy="45720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23"/>
                </a:solidFill>
                <a:latin typeface="Inter"/>
              </a:defRPr>
            </a:pPr>
            <a:r>
              <a:t>05  QUARANTINE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182880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Inter"/>
              </a:defRPr>
            </a:pPr>
            <a:r>
              <a:t>Route to maint page</a:t>
            </a:r>
            <a:br/>
            <a:r>
              <a:t>monitor 14 more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1188720"/>
            <a:ext cx="1508760" cy="22860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05672" y="1188720"/>
            <a:ext cx="1453896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23"/>
                </a:solidFill>
                <a:latin typeface="Inter"/>
              </a:defRPr>
            </a:pPr>
            <a:r>
              <a:t>06  DECOMMIT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182880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Inter"/>
              </a:defRPr>
            </a:pPr>
            <a:r>
              <a:t>Remove from gateway</a:t>
            </a:r>
            <a:br/>
            <a:r>
              <a:t>delete code refs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1188720"/>
            <a:ext cx="1508760" cy="22860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51592" y="1188720"/>
            <a:ext cx="1453896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23"/>
                </a:solidFill>
                <a:latin typeface="Inter"/>
              </a:defRPr>
            </a:pPr>
            <a:r>
              <a:t>07  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182880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Inter"/>
              </a:defRPr>
            </a:pPr>
            <a:r>
              <a:t>Rescan → confirm</a:t>
            </a:r>
            <a:br/>
            <a:r>
              <a:t>archive audit trail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Inter"/>
              </a:defRPr>
            </a:pPr>
            <a:r>
              <a:t>Workflow Engine: Temporal.io — durable, fault-tolerant, supports hours-long workflows with human-in-the-loop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97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Auto-create ServiceNow change request at each stage with CI/CD pipeline integration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Safety catch: if traffic spikes during grace period → PAUSE workflow, alert security team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Multi-tier approval: API Owner → Security Lead → Change Manager (for production/critical)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Full rollback capability at quarantine stage — one-click restore to active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Immutable audit trail logged to Elasticsearch for compliance and regulatory 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Continuous Monitoring — Prevent Zombie Proliferation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🔄  Real-Time Prevention Pipeline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Every new API deployment event (CI/CD, gateway, or code scan) flows through classifier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If API has no OpenAPI spec → flag as "at risk of becoming shadow"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If API has no documented owner → auto-assign probe task to team leads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Weekly "zombie risk" reports generated per business unit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⚙️  Configurable Zombie Prevention Rules (per team, per environment)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production: max_days_without_traffic=90, require_openapi_spec=true, auto_quarantine_after=120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staging:    max_days_without_traffic=30, auto_cleanup_after=45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development: auto_cleanup_after=14 (CI/CD ephemeral environments)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📋  Governance Controls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API registration required at deploy time via CI/CD plugin (fail build if unregistered)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Quarterly API attestation: every owner must certify their API inventory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Board-level quarterly report: zombie count, decommission rate, risk reduction metrics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🚨  Real-Time Alerts (PagerDuty / Slack / Email / Webhook)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New shadow API detected → notify security team within 60 seconds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Zombie API with critical vulnerability → page incident response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Traffic anomaly on quarantined API → pause decommission, investigate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Data Storage — Polyglot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9728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57400" cy="3657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Inter"/>
              </a:defRPr>
            </a:pPr>
            <a:r>
              <a:t>API inventory, workflows,</a:t>
            </a:r>
            <a:br/>
            <a:r>
              <a:t>users, 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Inter"/>
              </a:defRPr>
            </a:pPr>
            <a:r>
              <a:t>ACID compliance, relational</a:t>
            </a:r>
            <a:br/>
            <a:r>
              <a:t>queries, row-level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150876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1097280"/>
            <a:ext cx="205740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097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TimescaleDB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600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Inter"/>
              </a:defRPr>
            </a:pPr>
            <a:r>
              <a:t>Traffic metrics,</a:t>
            </a:r>
            <a:br/>
            <a:r>
              <a:t>time-series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Inter"/>
              </a:defRPr>
            </a:pPr>
            <a:r>
              <a:t>Hypertables, auto-rollup,</a:t>
            </a:r>
            <a:br/>
            <a:r>
              <a:t>retention policies, 90-day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508760"/>
            <a:ext cx="150876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097280"/>
            <a:ext cx="20574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097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Elasticsearch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00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Inter"/>
              </a:defRPr>
            </a:pPr>
            <a:r>
              <a:t>Logs, audit trail,</a:t>
            </a:r>
            <a:br/>
            <a:r>
              <a:t>full-text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Inter"/>
              </a:defRPr>
            </a:pPr>
            <a:r>
              <a:t>Kibana dashboards, SIEM</a:t>
            </a:r>
            <a:br/>
            <a:r>
              <a:t>integration, compliance queries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508760"/>
            <a:ext cx="150876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1097280"/>
            <a:ext cx="205740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097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600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Inter"/>
              </a:defRPr>
            </a:pPr>
            <a:r>
              <a:t>Rate limiting, real-time</a:t>
            </a:r>
            <a:br/>
            <a:r>
              <a:t>counters, session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Inter"/>
              </a:defRPr>
            </a:pPr>
            <a:r>
              <a:t>Sub-millisecond reads,</a:t>
            </a:r>
            <a:br/>
            <a:r>
              <a:t>pub/sub for real-time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1508760"/>
            <a:ext cx="150876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09760" y="1097280"/>
            <a:ext cx="2057400" cy="365760"/>
          </a:xfrm>
          <a:prstGeom prst="round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0972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S3 / MinIO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600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Inter"/>
              </a:defRPr>
            </a:pPr>
            <a:r>
              <a:t>Scan results, evidence</a:t>
            </a:r>
            <a:br/>
            <a:r>
              <a:t>archives, packet captures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7432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Inter"/>
              </a:defRPr>
            </a:pPr>
            <a:r>
              <a:t>Cheap blob storage,</a:t>
            </a:r>
            <a:br/>
            <a:r>
              <a:t>lifecycle policies, immutable buckets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1508760"/>
            <a:ext cx="1508760" cy="27432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Data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Raw events → Kafka (90-day retention, exactly-once semantics)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Stream processors → enrich, classify, score → write to PostgreSQL + TimescaleDB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Elasticsearch receives all audit events + scan results for SIEM integration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Redis for hot data: active API cache, rate limit counters, session state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S3 for cold storage: raw packet captures archived after 90 days, scan evidence retained for 7 years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Platform Security — Crown Jewel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🔐  Zero-Trust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Every internal call authenticated via mutual TLS (mTLS)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Service mesh (Istio) for all inter-service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No service trusts network boundaries — least-privilege principle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👁️  Read-Replicas &amp; Access Control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Dashboard queries served from read-replicas — never touch primary DB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Writes accepted only from trusted internal services (not from API layer)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Row-level security: team lead sees only their team's APIs; CISO sees everything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📝  Immutable Audit Trail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Every action logged: who viewed what, who approved what, timestamp, IP, reason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Audit events written to append-only Elasticsearch index with write-once enforcement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Tamper-evident logging using hash chaining for regulatory compliance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🏠  Deployment Boundary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On-premises or private cloud only — data never leaves the bank's network boundary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PII data never exposed to external services or ML training pipelines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All ML training occurs within secured environment with data anonymization layer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✅  Compliance Alignment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PCI-DSS: track all cardholder data environment APIs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GDPR: right to be forgotten → full API decommission includes data purging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SOX: financial reporting API dependency mapping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ISO 27001: asset management, access control, operations security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Phased Rollout Plan — 12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9728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32004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" y="1097280"/>
            <a:ext cx="2048256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P1: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Inter"/>
              </a:defRPr>
            </a:pPr>
            <a:r>
              <a:t>Months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API gateway integration</a:t>
            </a:r>
            <a:br/>
            <a:r>
              <a:t>Traffic monitoring</a:t>
            </a:r>
            <a:br/>
            <a:r>
              <a:t>Code scanners</a:t>
            </a:r>
            <a:br/>
            <a:r>
              <a:t>Build the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097280"/>
            <a:ext cx="2103120" cy="32004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632" y="1097280"/>
            <a:ext cx="2048256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143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P2: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Inter"/>
              </a:defRPr>
            </a:pPr>
            <a:r>
              <a:t>Months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7830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Train ML on labeled data</a:t>
            </a:r>
            <a:br/>
            <a:r>
              <a:t>Risk scoring engine</a:t>
            </a:r>
            <a:br/>
            <a:r>
              <a:t>Security analysis pipeline</a:t>
            </a:r>
            <a:br/>
            <a:r>
              <a:t>Dependency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097280"/>
            <a:ext cx="2103120" cy="32004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6632" y="1097280"/>
            <a:ext cx="2048256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143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P3: Decommission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Inter"/>
              </a:defRPr>
            </a:pPr>
            <a:r>
              <a:t>Months 5-6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7830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Temporal workflow engine</a:t>
            </a:r>
            <a:br/>
            <a:r>
              <a:t>ITSM (ServiceNow) integration</a:t>
            </a:r>
            <a:br/>
            <a:r>
              <a:t>Multi-tier approval flows</a:t>
            </a:r>
            <a:br/>
            <a:r>
              <a:t>Impact analysis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097280"/>
            <a:ext cx="2103120" cy="32004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42632" y="1097280"/>
            <a:ext cx="2048256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143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P4: Prevention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Inter"/>
              </a:defRPr>
            </a:pPr>
            <a:r>
              <a:t>Months 7-8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7830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CI/CD pipeline hooks</a:t>
            </a:r>
            <a:br/>
            <a:r>
              <a:t>Auto-registration gates</a:t>
            </a:r>
            <a:br/>
            <a:r>
              <a:t>Policy engine per team</a:t>
            </a:r>
            <a:br/>
            <a:r>
              <a:t>Team onboarding &amp;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097280"/>
            <a:ext cx="2103120" cy="3200400"/>
          </a:xfrm>
          <a:prstGeom prst="roundRect">
            <a:avLst/>
          </a:prstGeom>
          <a:solidFill>
            <a:srgbClr val="16162E"/>
          </a:solidFill>
          <a:ln w="1270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28632" y="1097280"/>
            <a:ext cx="2048256" cy="50292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1143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P5: Bank-Wide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Inter"/>
              </a:defRPr>
            </a:pPr>
            <a:r>
              <a:t>Months 9-12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17830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Inter"/>
              </a:defRPr>
            </a:pPr>
            <a:r>
              <a:t>Roll out to all divisions</a:t>
            </a:r>
            <a:br/>
            <a:r>
              <a:t>Regulatory compliance reporting</a:t>
            </a:r>
            <a:br/>
            <a:r>
              <a:t>Board-level dashboard</a:t>
            </a:r>
            <a:br/>
            <a:r>
              <a:t>Continuous improvement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Key Success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Month 3: 90%+ API coverage across all gateways and environments    • Month 6: automated decommission for non-critical zombie APIs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  • Month 9: zero new shadow APIs in production (prevention gates active)    • Month 12: 95% reduction in zombie API count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Architectural Decisions &amp;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⚡  1. Event-Driven (Kafka)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Decouples discovery from processing; handles 100k+ events per second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Exactly-once semantics prevent duplicate API records or missed decommission events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90-day retention enables replay for model retraining and historical analysis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⏳  2. Durable Workflows (Temporal.io)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Hours-long decommission workflows survive process crashes and pod restarts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Built-in retries, timeouts, and human-in-the-loop signals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Audit trail is automatic — every workflow step is recorded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🎯  3. ML with Confidence Thresholds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Below 0.85 confidence → human review (prevents false positives that erode trust)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Weekly retraining on ground-truth labels from security team audits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Ensemble approach (XGBoost + LightGBM + rules) beats any single model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🛡️  4. Safety-First Decommission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Traffic monitoring during grace period with automatic rollback if traffic resumes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Multi-tier approval chain prevents one person from decommissioning critical APIs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🚪  5. API Gateway as Ground Truth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If it's not in the gateway → it's suspicious (shadow API candidate)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If it's in the gateway with 0 traffic for 90 days → start decommission workflow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🏦  6. Bank-Grade Security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Inter"/>
              </a:defRPr>
            </a:pPr>
            <a:r>
              <a:t>     → mTLS everywhere, read-replicas, row-level security, immutable audit, on-prem only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914400"/>
            <a:ext cx="2743200" cy="2743200"/>
          </a:xfrm>
          <a:prstGeom prst="ellipse">
            <a:avLst/>
          </a:prstGeom>
          <a:solidFill>
            <a:srgbClr val="00D4AA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2286000"/>
            <a:ext cx="2743200" cy="2743200"/>
          </a:xfrm>
          <a:prstGeom prst="ellipse">
            <a:avLst/>
          </a:prstGeom>
          <a:solidFill>
            <a:srgbClr val="6C5CE7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3657600"/>
            <a:ext cx="2743200" cy="2743200"/>
          </a:xfrm>
          <a:prstGeom prst="ellipse">
            <a:avLst/>
          </a:prstGeom>
          <a:solidFill>
            <a:srgbClr val="F59E0B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Inter"/>
              </a:defRPr>
            </a:pPr>
            <a:r>
              <a:t>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Inter"/>
              </a:defRPr>
            </a:pPr>
            <a:r>
              <a:t>The existing ZADDP platform is a working proof of concept.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Inter"/>
              </a:defRPr>
            </a:pPr>
            <a:r>
              <a:t>This plan scales it to a bank-wide enterprise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383280"/>
            <a:ext cx="22860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  🔍  Multi-source discovery: gateways, networks, code, cloud, service mesh — every API, every source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  🧠  ML ensemble classification with confidence thresholds and weekly retraining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  🛡️  Bank-grade safety: durable workflows, multi-tier approval, automatic rollback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  🚫  Zero-trust platform security: mTLS, RBAC, immutable audit, on-prem deployment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  📈  12-month phased rollout: discover → classify → decommission → prevent → enterprise-wide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